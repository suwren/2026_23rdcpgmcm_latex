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32B65-9402-4E49-99C2-9980F9F32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FA3FE4-131D-469D-AA4D-A6DC80176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553FB5-4DF9-48EE-B798-9EE18C6D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4B095-0D8E-4D2E-B9C9-75E23EAF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2075DF-5E4A-40A2-9863-C88B3D56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8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49B4A-A40D-4297-A0D7-CBBC625C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C6C2E-B67C-4793-8487-674753B8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4AB17-CD3D-406D-A216-E1F89CB9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8F70C-7EFA-47F9-89E0-D606D7FE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AEC4E-71B3-45F0-B437-04D64F52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5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DB635-6082-46BF-ADE6-47C8DA2D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B489F2-210D-445B-9910-306F1028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27D58-5C3B-4504-AD49-9EFAC3D4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D9B5DC-BDFF-4EEC-99A1-20B258ED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A99AD9-03D1-43C6-A6E9-76014325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34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81781-E11D-452F-AE8A-FD95EDCE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BD2FA-9159-45B3-9C1A-47972C95D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CA2A95-64C9-426A-8E55-13285CAA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0C80A2-5981-4114-A415-CCA9A74C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F81831-2C5F-4B43-BECD-DE9E4BF2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EF888F-6069-428F-B825-4859A47A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8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2AE2C-9CFF-4E8D-986E-50397CD1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38BB47-BC8B-4E9B-A1AC-8F72C8804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425D13-D143-4D59-95D2-189991DB7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E42148-820C-4F09-81CD-CA1D734CD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03AE8E-083C-4C3D-B97D-BA296B163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64FDBE-DC92-40F4-B282-1CE24843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8A4F84-2087-453B-8148-0DF0C20F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D71BB8-AFE8-4C11-A96A-FE6FE4C5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55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3127A-C171-4282-83FB-C7015DB9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67113C-6FBA-44A2-AB17-275FCBD7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3F089F-8448-495F-A983-47C95B31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583226-D5D1-41D0-A803-B3E53932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8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F31C9B-B291-420C-AC68-76BB6043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B14391-1AA5-4118-A485-B9F55511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4AC43E-F97B-4CF2-90D5-E82FFE50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16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BE203-5741-488E-B871-4DCA42E2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BC81B-7354-4C74-A493-C69C6E652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01A78E-7C5B-4D54-9083-38FB2A605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185E4-040F-44CE-B902-0A8E306D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871343-427E-46B1-8A73-9FEB5034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49F433-5160-4B6A-B502-6C4D1408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14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18E49-16DC-4E39-97A4-A3CA1CF6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BA5CE4-458B-4B5E-AB04-C685F184B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A3C547-B3C3-4555-87AF-8DDBCDB2A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8168FA-2CEE-4766-8F78-44C22852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05E6B-3F56-42A7-BE22-1FB7308C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A60C57-A98E-48BA-8AE1-CE7F72F1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92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A92E9-10B2-454E-9C9C-3CBEE906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8EC734-F5B7-4989-ADAF-685BD442D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1FE80B-E65C-486A-BCE3-31EBB4A7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743997-7966-4AE7-9F0F-E9C9020B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D5547-355C-434F-BAD0-136E9303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62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52FDC4-026B-436F-A2FF-953F280DC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AC1069-FCAE-40A1-B0A6-4FFBA2B1B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0CD8D-D963-4F46-9294-124FDFBB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FC16E-0D4E-4F32-9A31-A61E53DF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6ED78-EBB6-4593-A4A0-F26371EC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47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E2968C-728C-4C5F-8D4D-2F291CE0C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AD5707-39EA-43C6-8613-181846EA5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845B0A-A8D5-440C-A841-C5CD46BFA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8612-3407-495C-842E-946130B5D56F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BDC49-3783-4A6F-BA47-E68E1BBC9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19C47-147D-4AB5-A884-992AC8E44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162C8-3F84-40B9-AA4A-1AA44F916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05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电流传输扇区">
            <a:extLst>
              <a:ext uri="{FF2B5EF4-FFF2-40B4-BE49-F238E27FC236}">
                <a16:creationId xmlns:a16="http://schemas.microsoft.com/office/drawing/2014/main" id="{421EC3A3-15D6-4B5A-8236-C93542D2CFFB}"/>
              </a:ext>
            </a:extLst>
          </p:cNvPr>
          <p:cNvSpPr/>
          <p:nvPr/>
        </p:nvSpPr>
        <p:spPr>
          <a:xfrm>
            <a:off x="4189450" y="1158816"/>
            <a:ext cx="1832108" cy="1495490"/>
          </a:xfrm>
          <a:custGeom>
            <a:avLst/>
            <a:gdLst/>
            <a:ahLst/>
            <a:cxnLst/>
            <a:rect l="0" t="0" r="0" b="0"/>
            <a:pathLst>
              <a:path w="1832108" h="1495490">
                <a:moveTo>
                  <a:pt x="1832107" y="849733"/>
                </a:moveTo>
                <a:lnTo>
                  <a:pt x="1757869" y="855576"/>
                </a:lnTo>
                <a:lnTo>
                  <a:pt x="1684038" y="865296"/>
                </a:lnTo>
                <a:lnTo>
                  <a:pt x="1610817" y="878867"/>
                </a:lnTo>
                <a:lnTo>
                  <a:pt x="1538406" y="896251"/>
                </a:lnTo>
                <a:lnTo>
                  <a:pt x="1467004" y="917401"/>
                </a:lnTo>
                <a:lnTo>
                  <a:pt x="1396807" y="942259"/>
                </a:lnTo>
                <a:lnTo>
                  <a:pt x="1328008" y="970757"/>
                </a:lnTo>
                <a:lnTo>
                  <a:pt x="1260794" y="1002816"/>
                </a:lnTo>
                <a:lnTo>
                  <a:pt x="1195350" y="1038349"/>
                </a:lnTo>
                <a:lnTo>
                  <a:pt x="1131855" y="1077259"/>
                </a:lnTo>
                <a:lnTo>
                  <a:pt x="1070484" y="1119438"/>
                </a:lnTo>
                <a:lnTo>
                  <a:pt x="1011405" y="1164772"/>
                </a:lnTo>
                <a:lnTo>
                  <a:pt x="954779" y="1213135"/>
                </a:lnTo>
                <a:lnTo>
                  <a:pt x="900761" y="1264395"/>
                </a:lnTo>
                <a:lnTo>
                  <a:pt x="849501" y="1318413"/>
                </a:lnTo>
                <a:lnTo>
                  <a:pt x="801138" y="1375039"/>
                </a:lnTo>
                <a:lnTo>
                  <a:pt x="755804" y="1434118"/>
                </a:lnTo>
                <a:lnTo>
                  <a:pt x="713625" y="1495489"/>
                </a:lnTo>
                <a:lnTo>
                  <a:pt x="0" y="1032056"/>
                </a:lnTo>
                <a:lnTo>
                  <a:pt x="67411" y="933972"/>
                </a:lnTo>
                <a:lnTo>
                  <a:pt x="139864" y="839550"/>
                </a:lnTo>
                <a:lnTo>
                  <a:pt x="217159" y="749049"/>
                </a:lnTo>
                <a:lnTo>
                  <a:pt x="299084" y="662718"/>
                </a:lnTo>
                <a:lnTo>
                  <a:pt x="385415" y="580793"/>
                </a:lnTo>
                <a:lnTo>
                  <a:pt x="475916" y="503498"/>
                </a:lnTo>
                <a:lnTo>
                  <a:pt x="570338" y="431046"/>
                </a:lnTo>
                <a:lnTo>
                  <a:pt x="668422" y="363634"/>
                </a:lnTo>
                <a:lnTo>
                  <a:pt x="769900" y="301448"/>
                </a:lnTo>
                <a:lnTo>
                  <a:pt x="874493" y="244659"/>
                </a:lnTo>
                <a:lnTo>
                  <a:pt x="981916" y="193421"/>
                </a:lnTo>
                <a:lnTo>
                  <a:pt x="1091872" y="147876"/>
                </a:lnTo>
                <a:lnTo>
                  <a:pt x="1204061" y="108147"/>
                </a:lnTo>
                <a:lnTo>
                  <a:pt x="1318177" y="74345"/>
                </a:lnTo>
                <a:lnTo>
                  <a:pt x="1433904" y="46561"/>
                </a:lnTo>
                <a:lnTo>
                  <a:pt x="1550928" y="24872"/>
                </a:lnTo>
                <a:lnTo>
                  <a:pt x="1668925" y="9337"/>
                </a:lnTo>
                <a:lnTo>
                  <a:pt x="1787575" y="0"/>
                </a:lnTo>
                <a:close/>
              </a:path>
            </a:pathLst>
          </a:custGeom>
          <a:solidFill>
            <a:srgbClr val="4F83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电化学反应扇区">
            <a:extLst>
              <a:ext uri="{FF2B5EF4-FFF2-40B4-BE49-F238E27FC236}">
                <a16:creationId xmlns:a16="http://schemas.microsoft.com/office/drawing/2014/main" id="{297A769C-122C-431A-983E-723FC3108B14}"/>
              </a:ext>
            </a:extLst>
          </p:cNvPr>
          <p:cNvSpPr/>
          <p:nvPr/>
        </p:nvSpPr>
        <p:spPr>
          <a:xfrm>
            <a:off x="6170443" y="1158816"/>
            <a:ext cx="1832108" cy="1495490"/>
          </a:xfrm>
          <a:custGeom>
            <a:avLst/>
            <a:gdLst/>
            <a:ahLst/>
            <a:cxnLst/>
            <a:rect l="0" t="0" r="0" b="0"/>
            <a:pathLst>
              <a:path w="1832108" h="1495490">
                <a:moveTo>
                  <a:pt x="1118482" y="1495489"/>
                </a:moveTo>
                <a:lnTo>
                  <a:pt x="1076303" y="1434118"/>
                </a:lnTo>
                <a:lnTo>
                  <a:pt x="1030969" y="1375039"/>
                </a:lnTo>
                <a:lnTo>
                  <a:pt x="982606" y="1318413"/>
                </a:lnTo>
                <a:lnTo>
                  <a:pt x="931346" y="1264395"/>
                </a:lnTo>
                <a:lnTo>
                  <a:pt x="877328" y="1213135"/>
                </a:lnTo>
                <a:lnTo>
                  <a:pt x="820702" y="1164772"/>
                </a:lnTo>
                <a:lnTo>
                  <a:pt x="761623" y="1119438"/>
                </a:lnTo>
                <a:lnTo>
                  <a:pt x="700252" y="1077259"/>
                </a:lnTo>
                <a:lnTo>
                  <a:pt x="636757" y="1038349"/>
                </a:lnTo>
                <a:lnTo>
                  <a:pt x="571313" y="1002816"/>
                </a:lnTo>
                <a:lnTo>
                  <a:pt x="504099" y="970757"/>
                </a:lnTo>
                <a:lnTo>
                  <a:pt x="435300" y="942259"/>
                </a:lnTo>
                <a:lnTo>
                  <a:pt x="365103" y="917401"/>
                </a:lnTo>
                <a:lnTo>
                  <a:pt x="293701" y="896251"/>
                </a:lnTo>
                <a:lnTo>
                  <a:pt x="221290" y="878867"/>
                </a:lnTo>
                <a:lnTo>
                  <a:pt x="148069" y="865296"/>
                </a:lnTo>
                <a:lnTo>
                  <a:pt x="74238" y="855576"/>
                </a:lnTo>
                <a:lnTo>
                  <a:pt x="0" y="849733"/>
                </a:lnTo>
                <a:lnTo>
                  <a:pt x="44532" y="0"/>
                </a:lnTo>
                <a:lnTo>
                  <a:pt x="163182" y="9337"/>
                </a:lnTo>
                <a:lnTo>
                  <a:pt x="281179" y="24872"/>
                </a:lnTo>
                <a:lnTo>
                  <a:pt x="398203" y="46561"/>
                </a:lnTo>
                <a:lnTo>
                  <a:pt x="513930" y="74345"/>
                </a:lnTo>
                <a:lnTo>
                  <a:pt x="628045" y="108147"/>
                </a:lnTo>
                <a:lnTo>
                  <a:pt x="740235" y="147876"/>
                </a:lnTo>
                <a:lnTo>
                  <a:pt x="850191" y="193421"/>
                </a:lnTo>
                <a:lnTo>
                  <a:pt x="957613" y="244659"/>
                </a:lnTo>
                <a:lnTo>
                  <a:pt x="1062207" y="301448"/>
                </a:lnTo>
                <a:lnTo>
                  <a:pt x="1163685" y="363634"/>
                </a:lnTo>
                <a:lnTo>
                  <a:pt x="1261769" y="431046"/>
                </a:lnTo>
                <a:lnTo>
                  <a:pt x="1356191" y="503498"/>
                </a:lnTo>
                <a:lnTo>
                  <a:pt x="1446691" y="580793"/>
                </a:lnTo>
                <a:lnTo>
                  <a:pt x="1533023" y="662718"/>
                </a:lnTo>
                <a:lnTo>
                  <a:pt x="1614948" y="749049"/>
                </a:lnTo>
                <a:lnTo>
                  <a:pt x="1692243" y="839550"/>
                </a:lnTo>
                <a:lnTo>
                  <a:pt x="1764695" y="933972"/>
                </a:lnTo>
                <a:lnTo>
                  <a:pt x="1832107" y="1032056"/>
                </a:lnTo>
                <a:close/>
              </a:path>
            </a:pathLst>
          </a:custGeom>
          <a:solidFill>
            <a:srgbClr val="D887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气体传输扇区">
            <a:extLst>
              <a:ext uri="{FF2B5EF4-FFF2-40B4-BE49-F238E27FC236}">
                <a16:creationId xmlns:a16="http://schemas.microsoft.com/office/drawing/2014/main" id="{70FE8F08-1296-4993-967E-11B01089753B}"/>
              </a:ext>
            </a:extLst>
          </p:cNvPr>
          <p:cNvSpPr/>
          <p:nvPr/>
        </p:nvSpPr>
        <p:spPr>
          <a:xfrm>
            <a:off x="7363368" y="2396943"/>
            <a:ext cx="1005933" cy="2064115"/>
          </a:xfrm>
          <a:custGeom>
            <a:avLst/>
            <a:gdLst/>
            <a:ahLst/>
            <a:cxnLst/>
            <a:rect l="0" t="0" r="0" b="0"/>
            <a:pathLst>
              <a:path w="1005933" h="2064115">
                <a:moveTo>
                  <a:pt x="0" y="1677813"/>
                </a:moveTo>
                <a:lnTo>
                  <a:pt x="32059" y="1610599"/>
                </a:lnTo>
                <a:lnTo>
                  <a:pt x="60557" y="1541800"/>
                </a:lnTo>
                <a:lnTo>
                  <a:pt x="85415" y="1471603"/>
                </a:lnTo>
                <a:lnTo>
                  <a:pt x="106565" y="1400201"/>
                </a:lnTo>
                <a:lnTo>
                  <a:pt x="123949" y="1327790"/>
                </a:lnTo>
                <a:lnTo>
                  <a:pt x="137520" y="1254569"/>
                </a:lnTo>
                <a:lnTo>
                  <a:pt x="147240" y="1180738"/>
                </a:lnTo>
                <a:lnTo>
                  <a:pt x="153083" y="1106500"/>
                </a:lnTo>
                <a:lnTo>
                  <a:pt x="155032" y="1032057"/>
                </a:lnTo>
                <a:lnTo>
                  <a:pt x="153083" y="957614"/>
                </a:lnTo>
                <a:lnTo>
                  <a:pt x="147240" y="883376"/>
                </a:lnTo>
                <a:lnTo>
                  <a:pt x="137520" y="809545"/>
                </a:lnTo>
                <a:lnTo>
                  <a:pt x="123949" y="736324"/>
                </a:lnTo>
                <a:lnTo>
                  <a:pt x="106565" y="663913"/>
                </a:lnTo>
                <a:lnTo>
                  <a:pt x="85415" y="592511"/>
                </a:lnTo>
                <a:lnTo>
                  <a:pt x="60557" y="522314"/>
                </a:lnTo>
                <a:lnTo>
                  <a:pt x="32059" y="453515"/>
                </a:lnTo>
                <a:lnTo>
                  <a:pt x="0" y="386301"/>
                </a:lnTo>
                <a:lnTo>
                  <a:pt x="758157" y="0"/>
                </a:lnTo>
                <a:lnTo>
                  <a:pt x="809395" y="107423"/>
                </a:lnTo>
                <a:lnTo>
                  <a:pt x="854940" y="217379"/>
                </a:lnTo>
                <a:lnTo>
                  <a:pt x="894669" y="329569"/>
                </a:lnTo>
                <a:lnTo>
                  <a:pt x="928471" y="443684"/>
                </a:lnTo>
                <a:lnTo>
                  <a:pt x="956255" y="559411"/>
                </a:lnTo>
                <a:lnTo>
                  <a:pt x="977944" y="676435"/>
                </a:lnTo>
                <a:lnTo>
                  <a:pt x="993478" y="794432"/>
                </a:lnTo>
                <a:lnTo>
                  <a:pt x="1002817" y="913082"/>
                </a:lnTo>
                <a:lnTo>
                  <a:pt x="1005932" y="1032057"/>
                </a:lnTo>
                <a:lnTo>
                  <a:pt x="1002817" y="1151032"/>
                </a:lnTo>
                <a:lnTo>
                  <a:pt x="993478" y="1269682"/>
                </a:lnTo>
                <a:lnTo>
                  <a:pt x="977944" y="1387679"/>
                </a:lnTo>
                <a:lnTo>
                  <a:pt x="956255" y="1504703"/>
                </a:lnTo>
                <a:lnTo>
                  <a:pt x="928471" y="1620430"/>
                </a:lnTo>
                <a:lnTo>
                  <a:pt x="894669" y="1734546"/>
                </a:lnTo>
                <a:lnTo>
                  <a:pt x="854940" y="1846735"/>
                </a:lnTo>
                <a:lnTo>
                  <a:pt x="809395" y="1956691"/>
                </a:lnTo>
                <a:lnTo>
                  <a:pt x="758157" y="2064114"/>
                </a:lnTo>
                <a:close/>
              </a:path>
            </a:pathLst>
          </a:custGeom>
          <a:solidFill>
            <a:srgbClr val="5DB5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水气冰分布扇区">
            <a:extLst>
              <a:ext uri="{FF2B5EF4-FFF2-40B4-BE49-F238E27FC236}">
                <a16:creationId xmlns:a16="http://schemas.microsoft.com/office/drawing/2014/main" id="{4139C85D-A4A6-4E4E-B7C7-09CFA811FF7B}"/>
              </a:ext>
            </a:extLst>
          </p:cNvPr>
          <p:cNvSpPr/>
          <p:nvPr/>
        </p:nvSpPr>
        <p:spPr>
          <a:xfrm>
            <a:off x="6170443" y="4203695"/>
            <a:ext cx="1832108" cy="1495491"/>
          </a:xfrm>
          <a:custGeom>
            <a:avLst/>
            <a:gdLst/>
            <a:ahLst/>
            <a:cxnLst/>
            <a:rect l="0" t="0" r="0" b="0"/>
            <a:pathLst>
              <a:path w="1832108" h="1495491">
                <a:moveTo>
                  <a:pt x="0" y="645756"/>
                </a:moveTo>
                <a:lnTo>
                  <a:pt x="74238" y="639913"/>
                </a:lnTo>
                <a:lnTo>
                  <a:pt x="148069" y="630193"/>
                </a:lnTo>
                <a:lnTo>
                  <a:pt x="221290" y="616622"/>
                </a:lnTo>
                <a:lnTo>
                  <a:pt x="293701" y="599238"/>
                </a:lnTo>
                <a:lnTo>
                  <a:pt x="365103" y="578088"/>
                </a:lnTo>
                <a:lnTo>
                  <a:pt x="435300" y="553230"/>
                </a:lnTo>
                <a:lnTo>
                  <a:pt x="504099" y="524732"/>
                </a:lnTo>
                <a:lnTo>
                  <a:pt x="571313" y="492673"/>
                </a:lnTo>
                <a:lnTo>
                  <a:pt x="636757" y="457140"/>
                </a:lnTo>
                <a:lnTo>
                  <a:pt x="700252" y="418230"/>
                </a:lnTo>
                <a:lnTo>
                  <a:pt x="761623" y="376051"/>
                </a:lnTo>
                <a:lnTo>
                  <a:pt x="820702" y="330717"/>
                </a:lnTo>
                <a:lnTo>
                  <a:pt x="877328" y="282354"/>
                </a:lnTo>
                <a:lnTo>
                  <a:pt x="931346" y="231094"/>
                </a:lnTo>
                <a:lnTo>
                  <a:pt x="982606" y="177076"/>
                </a:lnTo>
                <a:lnTo>
                  <a:pt x="1030969" y="120450"/>
                </a:lnTo>
                <a:lnTo>
                  <a:pt x="1076303" y="61371"/>
                </a:lnTo>
                <a:lnTo>
                  <a:pt x="1118482" y="0"/>
                </a:lnTo>
                <a:lnTo>
                  <a:pt x="1832107" y="463433"/>
                </a:lnTo>
                <a:lnTo>
                  <a:pt x="1764695" y="561517"/>
                </a:lnTo>
                <a:lnTo>
                  <a:pt x="1692243" y="655939"/>
                </a:lnTo>
                <a:lnTo>
                  <a:pt x="1614948" y="746440"/>
                </a:lnTo>
                <a:lnTo>
                  <a:pt x="1533023" y="832771"/>
                </a:lnTo>
                <a:lnTo>
                  <a:pt x="1446691" y="914696"/>
                </a:lnTo>
                <a:lnTo>
                  <a:pt x="1356191" y="991991"/>
                </a:lnTo>
                <a:lnTo>
                  <a:pt x="1261769" y="1064444"/>
                </a:lnTo>
                <a:lnTo>
                  <a:pt x="1163685" y="1131855"/>
                </a:lnTo>
                <a:lnTo>
                  <a:pt x="1062207" y="1194041"/>
                </a:lnTo>
                <a:lnTo>
                  <a:pt x="957613" y="1250830"/>
                </a:lnTo>
                <a:lnTo>
                  <a:pt x="850191" y="1302068"/>
                </a:lnTo>
                <a:lnTo>
                  <a:pt x="740235" y="1347613"/>
                </a:lnTo>
                <a:lnTo>
                  <a:pt x="628045" y="1387342"/>
                </a:lnTo>
                <a:lnTo>
                  <a:pt x="513930" y="1421144"/>
                </a:lnTo>
                <a:lnTo>
                  <a:pt x="398203" y="1448928"/>
                </a:lnTo>
                <a:lnTo>
                  <a:pt x="281179" y="1470617"/>
                </a:lnTo>
                <a:lnTo>
                  <a:pt x="163182" y="1486151"/>
                </a:lnTo>
                <a:lnTo>
                  <a:pt x="44532" y="1495490"/>
                </a:lnTo>
                <a:close/>
              </a:path>
            </a:pathLst>
          </a:custGeom>
          <a:solidFill>
            <a:srgbClr val="527F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能量与热传递扇区">
            <a:extLst>
              <a:ext uri="{FF2B5EF4-FFF2-40B4-BE49-F238E27FC236}">
                <a16:creationId xmlns:a16="http://schemas.microsoft.com/office/drawing/2014/main" id="{DBEECAC8-0BF7-4533-B335-36E0689F870B}"/>
              </a:ext>
            </a:extLst>
          </p:cNvPr>
          <p:cNvSpPr/>
          <p:nvPr/>
        </p:nvSpPr>
        <p:spPr>
          <a:xfrm>
            <a:off x="4189450" y="4203695"/>
            <a:ext cx="1832108" cy="1495491"/>
          </a:xfrm>
          <a:custGeom>
            <a:avLst/>
            <a:gdLst/>
            <a:ahLst/>
            <a:cxnLst/>
            <a:rect l="0" t="0" r="0" b="0"/>
            <a:pathLst>
              <a:path w="1832108" h="1495491">
                <a:moveTo>
                  <a:pt x="713625" y="0"/>
                </a:moveTo>
                <a:lnTo>
                  <a:pt x="755804" y="61371"/>
                </a:lnTo>
                <a:lnTo>
                  <a:pt x="801138" y="120450"/>
                </a:lnTo>
                <a:lnTo>
                  <a:pt x="849501" y="177076"/>
                </a:lnTo>
                <a:lnTo>
                  <a:pt x="900761" y="231094"/>
                </a:lnTo>
                <a:lnTo>
                  <a:pt x="954779" y="282354"/>
                </a:lnTo>
                <a:lnTo>
                  <a:pt x="1011405" y="330717"/>
                </a:lnTo>
                <a:lnTo>
                  <a:pt x="1070484" y="376051"/>
                </a:lnTo>
                <a:lnTo>
                  <a:pt x="1131855" y="418230"/>
                </a:lnTo>
                <a:lnTo>
                  <a:pt x="1195350" y="457140"/>
                </a:lnTo>
                <a:lnTo>
                  <a:pt x="1260794" y="492673"/>
                </a:lnTo>
                <a:lnTo>
                  <a:pt x="1328008" y="524732"/>
                </a:lnTo>
                <a:lnTo>
                  <a:pt x="1396807" y="553230"/>
                </a:lnTo>
                <a:lnTo>
                  <a:pt x="1467004" y="578088"/>
                </a:lnTo>
                <a:lnTo>
                  <a:pt x="1538406" y="599238"/>
                </a:lnTo>
                <a:lnTo>
                  <a:pt x="1610817" y="616622"/>
                </a:lnTo>
                <a:lnTo>
                  <a:pt x="1684038" y="630193"/>
                </a:lnTo>
                <a:lnTo>
                  <a:pt x="1757869" y="639913"/>
                </a:lnTo>
                <a:lnTo>
                  <a:pt x="1832107" y="645756"/>
                </a:lnTo>
                <a:lnTo>
                  <a:pt x="1787575" y="1495490"/>
                </a:lnTo>
                <a:lnTo>
                  <a:pt x="1668925" y="1486151"/>
                </a:lnTo>
                <a:lnTo>
                  <a:pt x="1550928" y="1470617"/>
                </a:lnTo>
                <a:lnTo>
                  <a:pt x="1433904" y="1448928"/>
                </a:lnTo>
                <a:lnTo>
                  <a:pt x="1318177" y="1421144"/>
                </a:lnTo>
                <a:lnTo>
                  <a:pt x="1204061" y="1387342"/>
                </a:lnTo>
                <a:lnTo>
                  <a:pt x="1091872" y="1347613"/>
                </a:lnTo>
                <a:lnTo>
                  <a:pt x="981916" y="1302068"/>
                </a:lnTo>
                <a:lnTo>
                  <a:pt x="874493" y="1250830"/>
                </a:lnTo>
                <a:lnTo>
                  <a:pt x="769900" y="1194041"/>
                </a:lnTo>
                <a:lnTo>
                  <a:pt x="668422" y="1131855"/>
                </a:lnTo>
                <a:lnTo>
                  <a:pt x="570338" y="1064444"/>
                </a:lnTo>
                <a:lnTo>
                  <a:pt x="475916" y="991991"/>
                </a:lnTo>
                <a:lnTo>
                  <a:pt x="385415" y="914696"/>
                </a:lnTo>
                <a:lnTo>
                  <a:pt x="299084" y="832771"/>
                </a:lnTo>
                <a:lnTo>
                  <a:pt x="217159" y="746440"/>
                </a:lnTo>
                <a:lnTo>
                  <a:pt x="139864" y="655939"/>
                </a:lnTo>
                <a:lnTo>
                  <a:pt x="67411" y="561517"/>
                </a:lnTo>
                <a:lnTo>
                  <a:pt x="0" y="463433"/>
                </a:lnTo>
                <a:close/>
              </a:path>
            </a:pathLst>
          </a:custGeom>
          <a:solidFill>
            <a:srgbClr val="D76C5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电压输出扇区">
            <a:extLst>
              <a:ext uri="{FF2B5EF4-FFF2-40B4-BE49-F238E27FC236}">
                <a16:creationId xmlns:a16="http://schemas.microsoft.com/office/drawing/2014/main" id="{BAE1CDEB-790B-4C6B-9B38-ABFD498AE616}"/>
              </a:ext>
            </a:extLst>
          </p:cNvPr>
          <p:cNvSpPr/>
          <p:nvPr/>
        </p:nvSpPr>
        <p:spPr>
          <a:xfrm>
            <a:off x="3822700" y="2396943"/>
            <a:ext cx="1005933" cy="2064115"/>
          </a:xfrm>
          <a:custGeom>
            <a:avLst/>
            <a:gdLst/>
            <a:ahLst/>
            <a:cxnLst/>
            <a:rect l="0" t="0" r="0" b="0"/>
            <a:pathLst>
              <a:path w="1005933" h="2064115">
                <a:moveTo>
                  <a:pt x="1005932" y="386301"/>
                </a:moveTo>
                <a:lnTo>
                  <a:pt x="973873" y="453515"/>
                </a:lnTo>
                <a:lnTo>
                  <a:pt x="945375" y="522314"/>
                </a:lnTo>
                <a:lnTo>
                  <a:pt x="920517" y="592511"/>
                </a:lnTo>
                <a:lnTo>
                  <a:pt x="899367" y="663913"/>
                </a:lnTo>
                <a:lnTo>
                  <a:pt x="881983" y="736324"/>
                </a:lnTo>
                <a:lnTo>
                  <a:pt x="868412" y="809545"/>
                </a:lnTo>
                <a:lnTo>
                  <a:pt x="858692" y="883376"/>
                </a:lnTo>
                <a:lnTo>
                  <a:pt x="852849" y="957614"/>
                </a:lnTo>
                <a:lnTo>
                  <a:pt x="850900" y="1032057"/>
                </a:lnTo>
                <a:lnTo>
                  <a:pt x="852849" y="1106500"/>
                </a:lnTo>
                <a:lnTo>
                  <a:pt x="858692" y="1180738"/>
                </a:lnTo>
                <a:lnTo>
                  <a:pt x="868412" y="1254569"/>
                </a:lnTo>
                <a:lnTo>
                  <a:pt x="881983" y="1327790"/>
                </a:lnTo>
                <a:lnTo>
                  <a:pt x="899367" y="1400201"/>
                </a:lnTo>
                <a:lnTo>
                  <a:pt x="920517" y="1471603"/>
                </a:lnTo>
                <a:lnTo>
                  <a:pt x="945375" y="1541800"/>
                </a:lnTo>
                <a:lnTo>
                  <a:pt x="973873" y="1610599"/>
                </a:lnTo>
                <a:lnTo>
                  <a:pt x="1005932" y="1677813"/>
                </a:lnTo>
                <a:lnTo>
                  <a:pt x="247775" y="2064114"/>
                </a:lnTo>
                <a:lnTo>
                  <a:pt x="196537" y="1956691"/>
                </a:lnTo>
                <a:lnTo>
                  <a:pt x="150992" y="1846735"/>
                </a:lnTo>
                <a:lnTo>
                  <a:pt x="111263" y="1734546"/>
                </a:lnTo>
                <a:lnTo>
                  <a:pt x="77461" y="1620430"/>
                </a:lnTo>
                <a:lnTo>
                  <a:pt x="49677" y="1504703"/>
                </a:lnTo>
                <a:lnTo>
                  <a:pt x="27988" y="1387679"/>
                </a:lnTo>
                <a:lnTo>
                  <a:pt x="12454" y="1269682"/>
                </a:lnTo>
                <a:lnTo>
                  <a:pt x="3115" y="1151032"/>
                </a:lnTo>
                <a:lnTo>
                  <a:pt x="0" y="1032057"/>
                </a:lnTo>
                <a:lnTo>
                  <a:pt x="3115" y="913082"/>
                </a:lnTo>
                <a:lnTo>
                  <a:pt x="12454" y="794432"/>
                </a:lnTo>
                <a:lnTo>
                  <a:pt x="27988" y="676435"/>
                </a:lnTo>
                <a:lnTo>
                  <a:pt x="49677" y="559411"/>
                </a:lnTo>
                <a:lnTo>
                  <a:pt x="77461" y="443684"/>
                </a:lnTo>
                <a:lnTo>
                  <a:pt x="111263" y="329569"/>
                </a:lnTo>
                <a:lnTo>
                  <a:pt x="150992" y="217379"/>
                </a:lnTo>
                <a:lnTo>
                  <a:pt x="196537" y="107423"/>
                </a:lnTo>
                <a:lnTo>
                  <a:pt x="247775" y="0"/>
                </a:lnTo>
                <a:close/>
              </a:path>
            </a:pathLst>
          </a:custGeom>
          <a:solidFill>
            <a:srgbClr val="92AA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6D932DB-5242-42BC-80A2-E1C7A0FA43F5}"/>
              </a:ext>
            </a:extLst>
          </p:cNvPr>
          <p:cNvCxnSpPr/>
          <p:nvPr/>
        </p:nvCxnSpPr>
        <p:spPr>
          <a:xfrm flipH="1" flipV="1">
            <a:off x="5403850" y="2230161"/>
            <a:ext cx="82550" cy="142981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0F8C4B-AF5D-487F-89AE-8198A4A3C1A2}"/>
              </a:ext>
            </a:extLst>
          </p:cNvPr>
          <p:cNvCxnSpPr/>
          <p:nvPr/>
        </p:nvCxnSpPr>
        <p:spPr>
          <a:xfrm flipV="1">
            <a:off x="6705600" y="2230161"/>
            <a:ext cx="82550" cy="142981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744807-D650-4BF3-A637-31F2ACF7FD94}"/>
              </a:ext>
            </a:extLst>
          </p:cNvPr>
          <p:cNvCxnSpPr/>
          <p:nvPr/>
        </p:nvCxnSpPr>
        <p:spPr>
          <a:xfrm>
            <a:off x="7315200" y="3429000"/>
            <a:ext cx="165100" cy="0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06EFBD-F645-408F-A8CD-05737B9AF0D9}"/>
              </a:ext>
            </a:extLst>
          </p:cNvPr>
          <p:cNvCxnSpPr/>
          <p:nvPr/>
        </p:nvCxnSpPr>
        <p:spPr>
          <a:xfrm>
            <a:off x="6705600" y="4484858"/>
            <a:ext cx="82550" cy="142981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9AE1EEB-35DA-47D9-BDA3-668DA12FAF56}"/>
              </a:ext>
            </a:extLst>
          </p:cNvPr>
          <p:cNvCxnSpPr/>
          <p:nvPr/>
        </p:nvCxnSpPr>
        <p:spPr>
          <a:xfrm flipH="1">
            <a:off x="5403850" y="4484858"/>
            <a:ext cx="82550" cy="142981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1186D9-BF95-4E6E-A731-4E010E4AEAAA}"/>
              </a:ext>
            </a:extLst>
          </p:cNvPr>
          <p:cNvCxnSpPr/>
          <p:nvPr/>
        </p:nvCxnSpPr>
        <p:spPr>
          <a:xfrm flipH="1">
            <a:off x="4711700" y="3429000"/>
            <a:ext cx="165100" cy="0"/>
          </a:xfrm>
          <a:prstGeom prst="line">
            <a:avLst/>
          </a:prstGeom>
          <a:ln w="14605">
            <a:solidFill>
              <a:srgbClr val="929EA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一维单电池共享状态场">
            <a:extLst>
              <a:ext uri="{FF2B5EF4-FFF2-40B4-BE49-F238E27FC236}">
                <a16:creationId xmlns:a16="http://schemas.microsoft.com/office/drawing/2014/main" id="{F202D7C8-400C-44E2-94C7-34037119465D}"/>
              </a:ext>
            </a:extLst>
          </p:cNvPr>
          <p:cNvSpPr/>
          <p:nvPr/>
        </p:nvSpPr>
        <p:spPr>
          <a:xfrm>
            <a:off x="4902200" y="2235200"/>
            <a:ext cx="2387600" cy="2387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D4DD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电流传输扇区图标底">
            <a:extLst>
              <a:ext uri="{FF2B5EF4-FFF2-40B4-BE49-F238E27FC236}">
                <a16:creationId xmlns:a16="http://schemas.microsoft.com/office/drawing/2014/main" id="{CA712D7A-3F80-4AFB-9EB0-AADC9D4F2001}"/>
              </a:ext>
            </a:extLst>
          </p:cNvPr>
          <p:cNvSpPr/>
          <p:nvPr/>
        </p:nvSpPr>
        <p:spPr>
          <a:xfrm>
            <a:off x="4845050" y="1494717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电化学反应扇区图标底">
            <a:extLst>
              <a:ext uri="{FF2B5EF4-FFF2-40B4-BE49-F238E27FC236}">
                <a16:creationId xmlns:a16="http://schemas.microsoft.com/office/drawing/2014/main" id="{0A5019C3-73A9-477A-9D60-D903B7851B62}"/>
              </a:ext>
            </a:extLst>
          </p:cNvPr>
          <p:cNvSpPr/>
          <p:nvPr/>
        </p:nvSpPr>
        <p:spPr>
          <a:xfrm>
            <a:off x="6711950" y="1494717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气体传输扇区图标底">
            <a:extLst>
              <a:ext uri="{FF2B5EF4-FFF2-40B4-BE49-F238E27FC236}">
                <a16:creationId xmlns:a16="http://schemas.microsoft.com/office/drawing/2014/main" id="{B3328917-1EAE-4FD8-8C0C-E32405AA1888}"/>
              </a:ext>
            </a:extLst>
          </p:cNvPr>
          <p:cNvSpPr/>
          <p:nvPr/>
        </p:nvSpPr>
        <p:spPr>
          <a:xfrm>
            <a:off x="7645400" y="3111500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水气冰分布扇区图标底">
            <a:extLst>
              <a:ext uri="{FF2B5EF4-FFF2-40B4-BE49-F238E27FC236}">
                <a16:creationId xmlns:a16="http://schemas.microsoft.com/office/drawing/2014/main" id="{92180AA8-7E09-44BB-914A-AE5B5F119F0D}"/>
              </a:ext>
            </a:extLst>
          </p:cNvPr>
          <p:cNvSpPr/>
          <p:nvPr/>
        </p:nvSpPr>
        <p:spPr>
          <a:xfrm>
            <a:off x="6711950" y="4728283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能量与热传递扇区图标底">
            <a:extLst>
              <a:ext uri="{FF2B5EF4-FFF2-40B4-BE49-F238E27FC236}">
                <a16:creationId xmlns:a16="http://schemas.microsoft.com/office/drawing/2014/main" id="{5E48B6A2-9C7C-4B2E-9734-CB24AF4F4D10}"/>
              </a:ext>
            </a:extLst>
          </p:cNvPr>
          <p:cNvSpPr/>
          <p:nvPr/>
        </p:nvSpPr>
        <p:spPr>
          <a:xfrm>
            <a:off x="4845050" y="4728283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电压输出扇区图标底">
            <a:extLst>
              <a:ext uri="{FF2B5EF4-FFF2-40B4-BE49-F238E27FC236}">
                <a16:creationId xmlns:a16="http://schemas.microsoft.com/office/drawing/2014/main" id="{7DD20986-152F-4603-8C04-A686EC5CE254}"/>
              </a:ext>
            </a:extLst>
          </p:cNvPr>
          <p:cNvSpPr/>
          <p:nvPr/>
        </p:nvSpPr>
        <p:spPr>
          <a:xfrm>
            <a:off x="3911600" y="3111500"/>
            <a:ext cx="635000" cy="635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C4798C4-8CEA-471E-A8F9-937235579E0B}"/>
              </a:ext>
            </a:extLst>
          </p:cNvPr>
          <p:cNvCxnSpPr/>
          <p:nvPr/>
        </p:nvCxnSpPr>
        <p:spPr>
          <a:xfrm>
            <a:off x="4933950" y="1812217"/>
            <a:ext cx="139700" cy="0"/>
          </a:xfrm>
          <a:prstGeom prst="line">
            <a:avLst/>
          </a:prstGeom>
          <a:ln w="30480">
            <a:solidFill>
              <a:srgbClr val="4F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1A84F66-225D-4D2A-BFC2-6E32A61CB249}"/>
              </a:ext>
            </a:extLst>
          </p:cNvPr>
          <p:cNvCxnSpPr/>
          <p:nvPr/>
        </p:nvCxnSpPr>
        <p:spPr>
          <a:xfrm flipV="1">
            <a:off x="5073650" y="1659817"/>
            <a:ext cx="76200" cy="152400"/>
          </a:xfrm>
          <a:prstGeom prst="line">
            <a:avLst/>
          </a:prstGeom>
          <a:ln w="30480">
            <a:solidFill>
              <a:srgbClr val="4F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778778-4E17-48DE-8DD5-FD1713A2F744}"/>
              </a:ext>
            </a:extLst>
          </p:cNvPr>
          <p:cNvCxnSpPr/>
          <p:nvPr/>
        </p:nvCxnSpPr>
        <p:spPr>
          <a:xfrm>
            <a:off x="5149850" y="1659817"/>
            <a:ext cx="76200" cy="317500"/>
          </a:xfrm>
          <a:prstGeom prst="line">
            <a:avLst/>
          </a:prstGeom>
          <a:ln w="30480">
            <a:solidFill>
              <a:srgbClr val="4F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2E9A844-8532-436E-8C62-D2A98113EDE0}"/>
              </a:ext>
            </a:extLst>
          </p:cNvPr>
          <p:cNvCxnSpPr/>
          <p:nvPr/>
        </p:nvCxnSpPr>
        <p:spPr>
          <a:xfrm flipV="1">
            <a:off x="5226050" y="1774117"/>
            <a:ext cx="88900" cy="203200"/>
          </a:xfrm>
          <a:prstGeom prst="line">
            <a:avLst/>
          </a:prstGeom>
          <a:ln w="30480">
            <a:solidFill>
              <a:srgbClr val="4F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20D1CE5-2A81-4495-BF02-6831A28EB358}"/>
              </a:ext>
            </a:extLst>
          </p:cNvPr>
          <p:cNvCxnSpPr/>
          <p:nvPr/>
        </p:nvCxnSpPr>
        <p:spPr>
          <a:xfrm>
            <a:off x="5314950" y="1774117"/>
            <a:ext cx="88900" cy="0"/>
          </a:xfrm>
          <a:prstGeom prst="line">
            <a:avLst/>
          </a:prstGeom>
          <a:ln w="30480">
            <a:solidFill>
              <a:srgbClr val="4F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6F4F5488-9FBA-406A-A9A1-91C7171AE348}"/>
              </a:ext>
            </a:extLst>
          </p:cNvPr>
          <p:cNvSpPr/>
          <p:nvPr/>
        </p:nvSpPr>
        <p:spPr>
          <a:xfrm>
            <a:off x="6775450" y="1761417"/>
            <a:ext cx="101600" cy="101600"/>
          </a:xfrm>
          <a:prstGeom prst="ellipse">
            <a:avLst/>
          </a:prstGeom>
          <a:noFill/>
          <a:ln w="21590" cap="flat" cmpd="sng" algn="ctr">
            <a:solidFill>
              <a:srgbClr val="D8872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CD19843-FB15-4F77-B38F-92852233A48B}"/>
              </a:ext>
            </a:extLst>
          </p:cNvPr>
          <p:cNvSpPr/>
          <p:nvPr/>
        </p:nvSpPr>
        <p:spPr>
          <a:xfrm>
            <a:off x="6927850" y="1761417"/>
            <a:ext cx="101600" cy="101600"/>
          </a:xfrm>
          <a:prstGeom prst="ellipse">
            <a:avLst/>
          </a:prstGeom>
          <a:noFill/>
          <a:ln w="21590" cap="flat" cmpd="sng" algn="ctr">
            <a:solidFill>
              <a:srgbClr val="D8872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26DE175-F65C-4328-910B-78874DC4EA4B}"/>
              </a:ext>
            </a:extLst>
          </p:cNvPr>
          <p:cNvSpPr/>
          <p:nvPr/>
        </p:nvSpPr>
        <p:spPr>
          <a:xfrm>
            <a:off x="7194550" y="1761417"/>
            <a:ext cx="101600" cy="101600"/>
          </a:xfrm>
          <a:prstGeom prst="ellipse">
            <a:avLst/>
          </a:prstGeom>
          <a:noFill/>
          <a:ln w="21590" cap="flat" cmpd="sng" algn="ctr">
            <a:solidFill>
              <a:srgbClr val="D88724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D951D69-FD46-4614-BE57-06D98DA303C7}"/>
              </a:ext>
            </a:extLst>
          </p:cNvPr>
          <p:cNvCxnSpPr/>
          <p:nvPr/>
        </p:nvCxnSpPr>
        <p:spPr>
          <a:xfrm>
            <a:off x="7067550" y="1812217"/>
            <a:ext cx="114300" cy="0"/>
          </a:xfrm>
          <a:prstGeom prst="line">
            <a:avLst/>
          </a:prstGeom>
          <a:ln w="21590">
            <a:solidFill>
              <a:srgbClr val="D887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F5685522-6653-4335-AF31-BE37FAA0EEE6}"/>
              </a:ext>
            </a:extLst>
          </p:cNvPr>
          <p:cNvSpPr/>
          <p:nvPr/>
        </p:nvSpPr>
        <p:spPr>
          <a:xfrm>
            <a:off x="7726680" y="3256280"/>
            <a:ext cx="91440" cy="91440"/>
          </a:xfrm>
          <a:prstGeom prst="ellipse">
            <a:avLst/>
          </a:prstGeom>
          <a:noFill/>
          <a:ln w="22860" cap="flat" cmpd="sng" algn="ctr">
            <a:solidFill>
              <a:srgbClr val="5DB5C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2222CA5-AF61-4988-9897-88B8835B37EE}"/>
              </a:ext>
            </a:extLst>
          </p:cNvPr>
          <p:cNvSpPr/>
          <p:nvPr/>
        </p:nvSpPr>
        <p:spPr>
          <a:xfrm>
            <a:off x="7726680" y="3497580"/>
            <a:ext cx="91440" cy="91440"/>
          </a:xfrm>
          <a:prstGeom prst="ellipse">
            <a:avLst/>
          </a:prstGeom>
          <a:noFill/>
          <a:ln w="22860" cap="flat" cmpd="sng" algn="ctr">
            <a:solidFill>
              <a:srgbClr val="5DB5C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70A76EF7-A9D5-4C2C-9ABD-EF7FEDFA513B}"/>
              </a:ext>
            </a:extLst>
          </p:cNvPr>
          <p:cNvSpPr/>
          <p:nvPr/>
        </p:nvSpPr>
        <p:spPr>
          <a:xfrm>
            <a:off x="7917180" y="3383280"/>
            <a:ext cx="91440" cy="91440"/>
          </a:xfrm>
          <a:prstGeom prst="ellipse">
            <a:avLst/>
          </a:prstGeom>
          <a:noFill/>
          <a:ln w="22860" cap="flat" cmpd="sng" algn="ctr">
            <a:solidFill>
              <a:srgbClr val="5DB5C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9D1F387-6CED-47D2-A323-1AA5D7541760}"/>
              </a:ext>
            </a:extLst>
          </p:cNvPr>
          <p:cNvCxnSpPr/>
          <p:nvPr/>
        </p:nvCxnSpPr>
        <p:spPr>
          <a:xfrm>
            <a:off x="8026400" y="3429000"/>
            <a:ext cx="190500" cy="0"/>
          </a:xfrm>
          <a:prstGeom prst="line">
            <a:avLst/>
          </a:prstGeom>
          <a:ln w="22860">
            <a:solidFill>
              <a:srgbClr val="5DB5C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水滴线稿">
            <a:extLst>
              <a:ext uri="{FF2B5EF4-FFF2-40B4-BE49-F238E27FC236}">
                <a16:creationId xmlns:a16="http://schemas.microsoft.com/office/drawing/2014/main" id="{FB8AD75F-AC58-4FDA-A258-88F7B31F7CF3}"/>
              </a:ext>
            </a:extLst>
          </p:cNvPr>
          <p:cNvSpPr/>
          <p:nvPr/>
        </p:nvSpPr>
        <p:spPr>
          <a:xfrm>
            <a:off x="6927850" y="4842583"/>
            <a:ext cx="203201" cy="381001"/>
          </a:xfrm>
          <a:custGeom>
            <a:avLst/>
            <a:gdLst/>
            <a:ahLst/>
            <a:cxnLst/>
            <a:rect l="0" t="0" r="0" b="0"/>
            <a:pathLst>
              <a:path w="203201" h="381001">
                <a:moveTo>
                  <a:pt x="0" y="304800"/>
                </a:moveTo>
                <a:lnTo>
                  <a:pt x="0" y="228600"/>
                </a:lnTo>
                <a:lnTo>
                  <a:pt x="101600" y="0"/>
                </a:lnTo>
                <a:lnTo>
                  <a:pt x="203200" y="228600"/>
                </a:lnTo>
                <a:lnTo>
                  <a:pt x="203200" y="304800"/>
                </a:lnTo>
                <a:lnTo>
                  <a:pt x="152400" y="381000"/>
                </a:lnTo>
                <a:lnTo>
                  <a:pt x="50800" y="381000"/>
                </a:lnTo>
                <a:close/>
              </a:path>
            </a:pathLst>
          </a:custGeom>
          <a:noFill/>
          <a:ln w="22860" cap="flat" cmpd="sng" algn="ctr">
            <a:solidFill>
              <a:srgbClr val="527FB5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328BA8A-B9B9-46EE-B47D-067C85449632}"/>
              </a:ext>
            </a:extLst>
          </p:cNvPr>
          <p:cNvCxnSpPr/>
          <p:nvPr/>
        </p:nvCxnSpPr>
        <p:spPr>
          <a:xfrm>
            <a:off x="7118350" y="5147383"/>
            <a:ext cx="203200" cy="0"/>
          </a:xfrm>
          <a:prstGeom prst="line">
            <a:avLst/>
          </a:prstGeom>
          <a:ln w="15240">
            <a:solidFill>
              <a:srgbClr val="527F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64696D8-9A6F-45B3-96B6-92446614B970}"/>
              </a:ext>
            </a:extLst>
          </p:cNvPr>
          <p:cNvCxnSpPr/>
          <p:nvPr/>
        </p:nvCxnSpPr>
        <p:spPr>
          <a:xfrm>
            <a:off x="7169150" y="5059395"/>
            <a:ext cx="101600" cy="175976"/>
          </a:xfrm>
          <a:prstGeom prst="line">
            <a:avLst/>
          </a:prstGeom>
          <a:ln w="15240">
            <a:solidFill>
              <a:srgbClr val="527F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1A1725F-CB83-44CC-9EB2-D13439AA3FE2}"/>
              </a:ext>
            </a:extLst>
          </p:cNvPr>
          <p:cNvCxnSpPr/>
          <p:nvPr/>
        </p:nvCxnSpPr>
        <p:spPr>
          <a:xfrm flipH="1">
            <a:off x="7169150" y="5059395"/>
            <a:ext cx="101600" cy="175976"/>
          </a:xfrm>
          <a:prstGeom prst="line">
            <a:avLst/>
          </a:prstGeom>
          <a:ln w="15240">
            <a:solidFill>
              <a:srgbClr val="527F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1A3D6EE-4D12-4FCA-AFFB-3DF42CFE224E}"/>
              </a:ext>
            </a:extLst>
          </p:cNvPr>
          <p:cNvCxnSpPr/>
          <p:nvPr/>
        </p:nvCxnSpPr>
        <p:spPr>
          <a:xfrm flipH="1" flipV="1">
            <a:off x="4959350" y="5121983"/>
            <a:ext cx="381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4552B86-2D24-4F22-B6D6-F3382AD4BCA9}"/>
              </a:ext>
            </a:extLst>
          </p:cNvPr>
          <p:cNvCxnSpPr/>
          <p:nvPr/>
        </p:nvCxnSpPr>
        <p:spPr>
          <a:xfrm flipV="1">
            <a:off x="4959350" y="5020383"/>
            <a:ext cx="508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6A922A7-7B58-440B-ABD2-C99B610961BD}"/>
              </a:ext>
            </a:extLst>
          </p:cNvPr>
          <p:cNvCxnSpPr/>
          <p:nvPr/>
        </p:nvCxnSpPr>
        <p:spPr>
          <a:xfrm flipV="1">
            <a:off x="5010150" y="4931483"/>
            <a:ext cx="508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A24CA54-6A8E-4079-A3E4-3FC4E818AF74}"/>
              </a:ext>
            </a:extLst>
          </p:cNvPr>
          <p:cNvCxnSpPr/>
          <p:nvPr/>
        </p:nvCxnSpPr>
        <p:spPr>
          <a:xfrm flipH="1" flipV="1">
            <a:off x="5035550" y="4842583"/>
            <a:ext cx="254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67B89CB-F724-4114-A573-6EDC2F9656BF}"/>
              </a:ext>
            </a:extLst>
          </p:cNvPr>
          <p:cNvCxnSpPr/>
          <p:nvPr/>
        </p:nvCxnSpPr>
        <p:spPr>
          <a:xfrm flipH="1" flipV="1">
            <a:off x="5099050" y="5121983"/>
            <a:ext cx="381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D9F6DD7-31DB-4A92-9032-C0DD9B928428}"/>
              </a:ext>
            </a:extLst>
          </p:cNvPr>
          <p:cNvCxnSpPr/>
          <p:nvPr/>
        </p:nvCxnSpPr>
        <p:spPr>
          <a:xfrm flipV="1">
            <a:off x="5099050" y="5020383"/>
            <a:ext cx="508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F2645BA-609D-412D-B319-DE38EC96930F}"/>
              </a:ext>
            </a:extLst>
          </p:cNvPr>
          <p:cNvCxnSpPr/>
          <p:nvPr/>
        </p:nvCxnSpPr>
        <p:spPr>
          <a:xfrm flipV="1">
            <a:off x="5149850" y="4931483"/>
            <a:ext cx="508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CCA6DC2-D30D-412E-8F4D-1A76281D12F5}"/>
              </a:ext>
            </a:extLst>
          </p:cNvPr>
          <p:cNvCxnSpPr/>
          <p:nvPr/>
        </p:nvCxnSpPr>
        <p:spPr>
          <a:xfrm flipH="1" flipV="1">
            <a:off x="5175250" y="4842583"/>
            <a:ext cx="254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8C8734A-70A0-498E-8514-C51F38EAB862}"/>
              </a:ext>
            </a:extLst>
          </p:cNvPr>
          <p:cNvCxnSpPr/>
          <p:nvPr/>
        </p:nvCxnSpPr>
        <p:spPr>
          <a:xfrm flipH="1" flipV="1">
            <a:off x="5238750" y="5121983"/>
            <a:ext cx="381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3531C83-F782-4A58-B252-0232E3002F71}"/>
              </a:ext>
            </a:extLst>
          </p:cNvPr>
          <p:cNvCxnSpPr/>
          <p:nvPr/>
        </p:nvCxnSpPr>
        <p:spPr>
          <a:xfrm flipV="1">
            <a:off x="5238750" y="5020383"/>
            <a:ext cx="50800" cy="1016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F68C31B-5CD9-4D64-ADD6-3F72AEE12D03}"/>
              </a:ext>
            </a:extLst>
          </p:cNvPr>
          <p:cNvCxnSpPr/>
          <p:nvPr/>
        </p:nvCxnSpPr>
        <p:spPr>
          <a:xfrm flipV="1">
            <a:off x="5289550" y="4931483"/>
            <a:ext cx="508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A40AEED-ED8E-488B-9A09-F963A3C09C50}"/>
              </a:ext>
            </a:extLst>
          </p:cNvPr>
          <p:cNvCxnSpPr/>
          <p:nvPr/>
        </p:nvCxnSpPr>
        <p:spPr>
          <a:xfrm flipH="1" flipV="1">
            <a:off x="5314950" y="4842583"/>
            <a:ext cx="25400" cy="88900"/>
          </a:xfrm>
          <a:prstGeom prst="line">
            <a:avLst/>
          </a:prstGeom>
          <a:ln w="25400">
            <a:solidFill>
              <a:srgbClr val="D76C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CB6B1E5C-69E8-41C2-B1BE-A8932CA95F13}"/>
              </a:ext>
            </a:extLst>
          </p:cNvPr>
          <p:cNvSpPr/>
          <p:nvPr/>
        </p:nvSpPr>
        <p:spPr>
          <a:xfrm>
            <a:off x="3975100" y="3263900"/>
            <a:ext cx="444500" cy="330200"/>
          </a:xfrm>
          <a:prstGeom prst="rect">
            <a:avLst/>
          </a:prstGeom>
          <a:noFill/>
          <a:ln w="25400" cap="flat" cmpd="sng" algn="ctr">
            <a:solidFill>
              <a:srgbClr val="92AA4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FADD0C2-B929-4C05-8D02-6357D8729BDB}"/>
              </a:ext>
            </a:extLst>
          </p:cNvPr>
          <p:cNvSpPr/>
          <p:nvPr/>
        </p:nvSpPr>
        <p:spPr>
          <a:xfrm>
            <a:off x="4419600" y="3365500"/>
            <a:ext cx="63500" cy="127000"/>
          </a:xfrm>
          <a:prstGeom prst="rect">
            <a:avLst/>
          </a:prstGeom>
          <a:solidFill>
            <a:srgbClr val="92AA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7FC46A4-1B22-4CF8-9EDC-BA9B842967AC}"/>
              </a:ext>
            </a:extLst>
          </p:cNvPr>
          <p:cNvCxnSpPr/>
          <p:nvPr/>
        </p:nvCxnSpPr>
        <p:spPr>
          <a:xfrm>
            <a:off x="4051300" y="3429000"/>
            <a:ext cx="101600" cy="0"/>
          </a:xfrm>
          <a:prstGeom prst="line">
            <a:avLst/>
          </a:prstGeom>
          <a:ln w="21590">
            <a:solidFill>
              <a:srgbClr val="92A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930FD0F-4959-4F48-B5C3-626BB2E257CF}"/>
              </a:ext>
            </a:extLst>
          </p:cNvPr>
          <p:cNvCxnSpPr/>
          <p:nvPr/>
        </p:nvCxnSpPr>
        <p:spPr>
          <a:xfrm>
            <a:off x="4241800" y="3429000"/>
            <a:ext cx="101600" cy="0"/>
          </a:xfrm>
          <a:prstGeom prst="line">
            <a:avLst/>
          </a:prstGeom>
          <a:ln w="21590">
            <a:solidFill>
              <a:srgbClr val="92A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BB889EF-43AD-421F-A449-88FD6E82125A}"/>
              </a:ext>
            </a:extLst>
          </p:cNvPr>
          <p:cNvCxnSpPr/>
          <p:nvPr/>
        </p:nvCxnSpPr>
        <p:spPr>
          <a:xfrm>
            <a:off x="4292600" y="3378200"/>
            <a:ext cx="0" cy="101600"/>
          </a:xfrm>
          <a:prstGeom prst="line">
            <a:avLst/>
          </a:prstGeom>
          <a:ln w="21590">
            <a:solidFill>
              <a:srgbClr val="92AA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中心标题">
            <a:extLst>
              <a:ext uri="{FF2B5EF4-FFF2-40B4-BE49-F238E27FC236}">
                <a16:creationId xmlns:a16="http://schemas.microsoft.com/office/drawing/2014/main" id="{1EC24DF3-DCE9-407C-9493-444FE6E55584}"/>
              </a:ext>
            </a:extLst>
          </p:cNvPr>
          <p:cNvSpPr txBox="1"/>
          <p:nvPr/>
        </p:nvSpPr>
        <p:spPr>
          <a:xfrm>
            <a:off x="5003800" y="2476500"/>
            <a:ext cx="2184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2300" b="1">
                <a:solidFill>
                  <a:srgbClr val="273544"/>
                </a:solidFill>
                <a:latin typeface="Microsoft YaHei" panose="020B0503020204020204" pitchFamily="34" charset="-122"/>
              </a:rPr>
              <a:t>PEM </a:t>
            </a:r>
            <a:r>
              <a:rPr lang="zh-CN" altLang="en-US" sz="2300" b="1">
                <a:solidFill>
                  <a:srgbClr val="273544"/>
                </a:solidFill>
                <a:latin typeface="Microsoft YaHei" panose="020B0503020204020204" pitchFamily="34" charset="-122"/>
              </a:rPr>
              <a:t>单电池</a:t>
            </a:r>
          </a:p>
        </p:txBody>
      </p:sp>
      <p:sp>
        <p:nvSpPr>
          <p:cNvPr id="56" name="求解方向">
            <a:extLst>
              <a:ext uri="{FF2B5EF4-FFF2-40B4-BE49-F238E27FC236}">
                <a16:creationId xmlns:a16="http://schemas.microsoft.com/office/drawing/2014/main" id="{E5166E8C-A3CD-4294-AEBF-3D1B4A4D77A8}"/>
              </a:ext>
            </a:extLst>
          </p:cNvPr>
          <p:cNvSpPr txBox="1"/>
          <p:nvPr/>
        </p:nvSpPr>
        <p:spPr>
          <a:xfrm>
            <a:off x="5067300" y="2908300"/>
            <a:ext cx="2057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1300">
                <a:solidFill>
                  <a:srgbClr val="65717D"/>
                </a:solidFill>
                <a:latin typeface="Microsoft YaHei" panose="020B0503020204020204" pitchFamily="34" charset="-122"/>
              </a:rPr>
              <a:t>一维厚度方向 </a:t>
            </a:r>
            <a:r>
              <a:rPr lang="en-US" altLang="zh-CN" sz="1300">
                <a:solidFill>
                  <a:srgbClr val="65717D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300">
              <a:solidFill>
                <a:srgbClr val="65717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aGDL结构层">
            <a:extLst>
              <a:ext uri="{FF2B5EF4-FFF2-40B4-BE49-F238E27FC236}">
                <a16:creationId xmlns:a16="http://schemas.microsoft.com/office/drawing/2014/main" id="{FBD2DC44-A736-4602-9B19-11F00256DD06}"/>
              </a:ext>
            </a:extLst>
          </p:cNvPr>
          <p:cNvSpPr/>
          <p:nvPr/>
        </p:nvSpPr>
        <p:spPr>
          <a:xfrm>
            <a:off x="5245100" y="3365500"/>
            <a:ext cx="444500" cy="317500"/>
          </a:xfrm>
          <a:prstGeom prst="rect">
            <a:avLst/>
          </a:prstGeom>
          <a:solidFill>
            <a:srgbClr val="8794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aGDL标注">
            <a:extLst>
              <a:ext uri="{FF2B5EF4-FFF2-40B4-BE49-F238E27FC236}">
                <a16:creationId xmlns:a16="http://schemas.microsoft.com/office/drawing/2014/main" id="{2D0C2434-C7F2-46A9-A860-5633A0D5BB2E}"/>
              </a:ext>
            </a:extLst>
          </p:cNvPr>
          <p:cNvSpPr txBox="1"/>
          <p:nvPr/>
        </p:nvSpPr>
        <p:spPr>
          <a:xfrm>
            <a:off x="5194300" y="3733800"/>
            <a:ext cx="5461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950">
                <a:solidFill>
                  <a:srgbClr val="273544"/>
                </a:solidFill>
                <a:latin typeface="Times New Roman" panose="02020603050405020304" pitchFamily="18" charset="0"/>
              </a:rPr>
              <a:t>aGDL</a:t>
            </a:r>
            <a:endParaRPr lang="zh-CN" altLang="en-US" sz="950">
              <a:solidFill>
                <a:srgbClr val="2735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aCL结构层">
            <a:extLst>
              <a:ext uri="{FF2B5EF4-FFF2-40B4-BE49-F238E27FC236}">
                <a16:creationId xmlns:a16="http://schemas.microsoft.com/office/drawing/2014/main" id="{CB1BC2B9-5DAF-4CB6-A7C5-10F13B1B1ADD}"/>
              </a:ext>
            </a:extLst>
          </p:cNvPr>
          <p:cNvSpPr/>
          <p:nvPr/>
        </p:nvSpPr>
        <p:spPr>
          <a:xfrm>
            <a:off x="5689600" y="3365500"/>
            <a:ext cx="330200" cy="317500"/>
          </a:xfrm>
          <a:prstGeom prst="rect">
            <a:avLst/>
          </a:prstGeom>
          <a:solidFill>
            <a:srgbClr val="D887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aCL标注">
            <a:extLst>
              <a:ext uri="{FF2B5EF4-FFF2-40B4-BE49-F238E27FC236}">
                <a16:creationId xmlns:a16="http://schemas.microsoft.com/office/drawing/2014/main" id="{724F36F7-2B08-4FF9-94D1-98BF9B410B25}"/>
              </a:ext>
            </a:extLst>
          </p:cNvPr>
          <p:cNvSpPr txBox="1"/>
          <p:nvPr/>
        </p:nvSpPr>
        <p:spPr>
          <a:xfrm>
            <a:off x="5638800" y="3733800"/>
            <a:ext cx="4318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950">
                <a:solidFill>
                  <a:srgbClr val="273544"/>
                </a:solidFill>
                <a:latin typeface="Times New Roman" panose="02020603050405020304" pitchFamily="18" charset="0"/>
              </a:rPr>
              <a:t>aCL</a:t>
            </a:r>
            <a:endParaRPr lang="zh-CN" altLang="en-US" sz="950">
              <a:solidFill>
                <a:srgbClr val="2735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PEM结构层">
            <a:extLst>
              <a:ext uri="{FF2B5EF4-FFF2-40B4-BE49-F238E27FC236}">
                <a16:creationId xmlns:a16="http://schemas.microsoft.com/office/drawing/2014/main" id="{31AB2BF3-A4B8-4382-8C2D-79E2DF714378}"/>
              </a:ext>
            </a:extLst>
          </p:cNvPr>
          <p:cNvSpPr/>
          <p:nvPr/>
        </p:nvSpPr>
        <p:spPr>
          <a:xfrm>
            <a:off x="6019800" y="3365500"/>
            <a:ext cx="546100" cy="317500"/>
          </a:xfrm>
          <a:prstGeom prst="rect">
            <a:avLst/>
          </a:prstGeom>
          <a:solidFill>
            <a:srgbClr val="8DB3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PEM标注">
            <a:extLst>
              <a:ext uri="{FF2B5EF4-FFF2-40B4-BE49-F238E27FC236}">
                <a16:creationId xmlns:a16="http://schemas.microsoft.com/office/drawing/2014/main" id="{0985B5B2-6674-4D1F-9C5D-4ACD53456EE7}"/>
              </a:ext>
            </a:extLst>
          </p:cNvPr>
          <p:cNvSpPr txBox="1"/>
          <p:nvPr/>
        </p:nvSpPr>
        <p:spPr>
          <a:xfrm>
            <a:off x="5969000" y="3733800"/>
            <a:ext cx="6477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950">
                <a:solidFill>
                  <a:srgbClr val="273544"/>
                </a:solidFill>
                <a:latin typeface="Times New Roman" panose="02020603050405020304" pitchFamily="18" charset="0"/>
              </a:rPr>
              <a:t>PEM</a:t>
            </a:r>
            <a:endParaRPr lang="zh-CN" altLang="en-US" sz="950">
              <a:solidFill>
                <a:srgbClr val="2735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cCL结构层">
            <a:extLst>
              <a:ext uri="{FF2B5EF4-FFF2-40B4-BE49-F238E27FC236}">
                <a16:creationId xmlns:a16="http://schemas.microsoft.com/office/drawing/2014/main" id="{8B035847-343D-4B26-81BE-DE9271DBE0A6}"/>
              </a:ext>
            </a:extLst>
          </p:cNvPr>
          <p:cNvSpPr/>
          <p:nvPr/>
        </p:nvSpPr>
        <p:spPr>
          <a:xfrm>
            <a:off x="6565900" y="3365500"/>
            <a:ext cx="330200" cy="317500"/>
          </a:xfrm>
          <a:prstGeom prst="rect">
            <a:avLst/>
          </a:prstGeom>
          <a:solidFill>
            <a:srgbClr val="D887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cCL标注">
            <a:extLst>
              <a:ext uri="{FF2B5EF4-FFF2-40B4-BE49-F238E27FC236}">
                <a16:creationId xmlns:a16="http://schemas.microsoft.com/office/drawing/2014/main" id="{12820057-48C7-4EE9-AD28-66FD58E36602}"/>
              </a:ext>
            </a:extLst>
          </p:cNvPr>
          <p:cNvSpPr txBox="1"/>
          <p:nvPr/>
        </p:nvSpPr>
        <p:spPr>
          <a:xfrm>
            <a:off x="6515100" y="3733800"/>
            <a:ext cx="4318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950">
                <a:solidFill>
                  <a:srgbClr val="273544"/>
                </a:solidFill>
                <a:latin typeface="Times New Roman" panose="02020603050405020304" pitchFamily="18" charset="0"/>
              </a:rPr>
              <a:t>cCL</a:t>
            </a:r>
            <a:endParaRPr lang="zh-CN" altLang="en-US" sz="950">
              <a:solidFill>
                <a:srgbClr val="2735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cGDL结构层">
            <a:extLst>
              <a:ext uri="{FF2B5EF4-FFF2-40B4-BE49-F238E27FC236}">
                <a16:creationId xmlns:a16="http://schemas.microsoft.com/office/drawing/2014/main" id="{182458F1-F42F-493A-9250-2807C418C1AB}"/>
              </a:ext>
            </a:extLst>
          </p:cNvPr>
          <p:cNvSpPr/>
          <p:nvPr/>
        </p:nvSpPr>
        <p:spPr>
          <a:xfrm>
            <a:off x="6896100" y="3365500"/>
            <a:ext cx="444500" cy="317500"/>
          </a:xfrm>
          <a:prstGeom prst="rect">
            <a:avLst/>
          </a:prstGeom>
          <a:solidFill>
            <a:srgbClr val="8794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cGDL标注">
            <a:extLst>
              <a:ext uri="{FF2B5EF4-FFF2-40B4-BE49-F238E27FC236}">
                <a16:creationId xmlns:a16="http://schemas.microsoft.com/office/drawing/2014/main" id="{32388805-0C01-460E-BC5D-317BF9379A5F}"/>
              </a:ext>
            </a:extLst>
          </p:cNvPr>
          <p:cNvSpPr txBox="1"/>
          <p:nvPr/>
        </p:nvSpPr>
        <p:spPr>
          <a:xfrm>
            <a:off x="6845300" y="3733800"/>
            <a:ext cx="5461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950">
                <a:solidFill>
                  <a:srgbClr val="273544"/>
                </a:solidFill>
                <a:latin typeface="Times New Roman" panose="02020603050405020304" pitchFamily="18" charset="0"/>
              </a:rPr>
              <a:t>cGDL</a:t>
            </a:r>
            <a:endParaRPr lang="zh-CN" altLang="en-US" sz="950">
              <a:solidFill>
                <a:srgbClr val="2735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耦合说明">
            <a:extLst>
              <a:ext uri="{FF2B5EF4-FFF2-40B4-BE49-F238E27FC236}">
                <a16:creationId xmlns:a16="http://schemas.microsoft.com/office/drawing/2014/main" id="{C5EC3ABC-E062-4BF7-9FCD-176CE2EE4747}"/>
              </a:ext>
            </a:extLst>
          </p:cNvPr>
          <p:cNvSpPr txBox="1"/>
          <p:nvPr/>
        </p:nvSpPr>
        <p:spPr>
          <a:xfrm>
            <a:off x="4991100" y="4127500"/>
            <a:ext cx="22098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273544"/>
                </a:solidFill>
                <a:latin typeface="Microsoft YaHei" panose="020B0503020204020204" pitchFamily="34" charset="-122"/>
              </a:rPr>
              <a:t>共享状态场 </a:t>
            </a:r>
            <a:r>
              <a:rPr lang="en-US" altLang="zh-CN" sz="1400" b="1">
                <a:solidFill>
                  <a:srgbClr val="273544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 b="1">
                <a:solidFill>
                  <a:srgbClr val="273544"/>
                </a:solidFill>
                <a:latin typeface="Microsoft YaHei" panose="020B0503020204020204" pitchFamily="34" charset="-122"/>
              </a:rPr>
              <a:t>双向耦合</a:t>
            </a:r>
          </a:p>
        </p:txBody>
      </p:sp>
      <p:sp>
        <p:nvSpPr>
          <p:cNvPr id="68" name="电流传输标题">
            <a:extLst>
              <a:ext uri="{FF2B5EF4-FFF2-40B4-BE49-F238E27FC236}">
                <a16:creationId xmlns:a16="http://schemas.microsoft.com/office/drawing/2014/main" id="{66918F92-C0F1-4CB2-B840-014276884650}"/>
              </a:ext>
            </a:extLst>
          </p:cNvPr>
          <p:cNvSpPr txBox="1"/>
          <p:nvPr/>
        </p:nvSpPr>
        <p:spPr>
          <a:xfrm>
            <a:off x="2209800" y="520700"/>
            <a:ext cx="28575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4F83C6"/>
                </a:solidFill>
                <a:latin typeface="Microsoft YaHei" panose="020B0503020204020204" pitchFamily="34" charset="-122"/>
              </a:rPr>
              <a:t>电流传输</a:t>
            </a:r>
          </a:p>
        </p:txBody>
      </p:sp>
      <p:sp>
        <p:nvSpPr>
          <p:cNvPr id="69" name="电流传输符号">
            <a:extLst>
              <a:ext uri="{FF2B5EF4-FFF2-40B4-BE49-F238E27FC236}">
                <a16:creationId xmlns:a16="http://schemas.microsoft.com/office/drawing/2014/main" id="{7943BF2E-6363-43DA-A259-5263FEFFCAE5}"/>
              </a:ext>
            </a:extLst>
          </p:cNvPr>
          <p:cNvSpPr txBox="1"/>
          <p:nvPr/>
        </p:nvSpPr>
        <p:spPr>
          <a:xfrm>
            <a:off x="2209800" y="914400"/>
            <a:ext cx="28575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1600">
                <a:solidFill>
                  <a:srgbClr val="4F83C6"/>
                </a:solidFill>
                <a:latin typeface="Times New Roman" panose="02020603050405020304" pitchFamily="18" charset="0"/>
              </a:rPr>
              <a:t>iₛ, iₘ</a:t>
            </a:r>
            <a:endParaRPr lang="zh-CN" altLang="en-US" sz="1600">
              <a:solidFill>
                <a:srgbClr val="4F83C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电化学反应标题">
            <a:extLst>
              <a:ext uri="{FF2B5EF4-FFF2-40B4-BE49-F238E27FC236}">
                <a16:creationId xmlns:a16="http://schemas.microsoft.com/office/drawing/2014/main" id="{6E3A3A2C-B1D1-436A-A841-26E3150A1705}"/>
              </a:ext>
            </a:extLst>
          </p:cNvPr>
          <p:cNvSpPr txBox="1"/>
          <p:nvPr/>
        </p:nvSpPr>
        <p:spPr>
          <a:xfrm>
            <a:off x="7188200" y="520700"/>
            <a:ext cx="28575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D88724"/>
                </a:solidFill>
                <a:latin typeface="Microsoft YaHei" panose="020B0503020204020204" pitchFamily="34" charset="-122"/>
              </a:rPr>
              <a:t>电化学反应</a:t>
            </a:r>
          </a:p>
        </p:txBody>
      </p:sp>
      <p:sp>
        <p:nvSpPr>
          <p:cNvPr id="71" name="电化学反应符号">
            <a:extLst>
              <a:ext uri="{FF2B5EF4-FFF2-40B4-BE49-F238E27FC236}">
                <a16:creationId xmlns:a16="http://schemas.microsoft.com/office/drawing/2014/main" id="{42CB2842-B598-4035-94DF-A6383AF42552}"/>
              </a:ext>
            </a:extLst>
          </p:cNvPr>
          <p:cNvSpPr txBox="1"/>
          <p:nvPr/>
        </p:nvSpPr>
        <p:spPr>
          <a:xfrm>
            <a:off x="7188200" y="914400"/>
            <a:ext cx="28575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1600">
                <a:solidFill>
                  <a:srgbClr val="D88724"/>
                </a:solidFill>
                <a:latin typeface="Times New Roman" panose="02020603050405020304" pitchFamily="18" charset="0"/>
              </a:rPr>
              <a:t>HOR / ORR</a:t>
            </a:r>
            <a:endParaRPr lang="zh-CN" altLang="en-US" sz="1600">
              <a:solidFill>
                <a:srgbClr val="D88724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气体传输标题">
            <a:extLst>
              <a:ext uri="{FF2B5EF4-FFF2-40B4-BE49-F238E27FC236}">
                <a16:creationId xmlns:a16="http://schemas.microsoft.com/office/drawing/2014/main" id="{80642AE5-0993-41A2-A092-9142733282DF}"/>
              </a:ext>
            </a:extLst>
          </p:cNvPr>
          <p:cNvSpPr txBox="1"/>
          <p:nvPr/>
        </p:nvSpPr>
        <p:spPr>
          <a:xfrm>
            <a:off x="8877300" y="3124200"/>
            <a:ext cx="28956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5DB5C9"/>
                </a:solidFill>
                <a:latin typeface="Microsoft YaHei" panose="020B0503020204020204" pitchFamily="34" charset="-122"/>
              </a:rPr>
              <a:t>气体传输</a:t>
            </a:r>
          </a:p>
        </p:txBody>
      </p:sp>
      <p:sp>
        <p:nvSpPr>
          <p:cNvPr id="73" name="气体传输符号">
            <a:extLst>
              <a:ext uri="{FF2B5EF4-FFF2-40B4-BE49-F238E27FC236}">
                <a16:creationId xmlns:a16="http://schemas.microsoft.com/office/drawing/2014/main" id="{667E8BC4-772B-49A5-9F94-11452D6A5DCD}"/>
              </a:ext>
            </a:extLst>
          </p:cNvPr>
          <p:cNvSpPr txBox="1"/>
          <p:nvPr/>
        </p:nvSpPr>
        <p:spPr>
          <a:xfrm>
            <a:off x="8877300" y="3517900"/>
            <a:ext cx="28956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1600">
                <a:solidFill>
                  <a:srgbClr val="5DB5C9"/>
                </a:solidFill>
                <a:latin typeface="Times New Roman" panose="02020603050405020304" pitchFamily="18" charset="0"/>
              </a:rPr>
              <a:t>N </a:t>
            </a:r>
            <a:r>
              <a:rPr lang="en-GB" altLang="zh-CN" sz="1600" baseline="-25000">
                <a:solidFill>
                  <a:srgbClr val="5DB5C9"/>
                </a:solidFill>
                <a:latin typeface="Times New Roman" panose="02020603050405020304" pitchFamily="18" charset="0"/>
              </a:rPr>
              <a:t>H₂</a:t>
            </a:r>
            <a:r>
              <a:rPr lang="en-GB" altLang="zh-CN" sz="1600">
                <a:solidFill>
                  <a:srgbClr val="5DB5C9"/>
                </a:solidFill>
                <a:latin typeface="Times New Roman" panose="02020603050405020304" pitchFamily="18" charset="0"/>
              </a:rPr>
              <a:t>, N </a:t>
            </a:r>
            <a:r>
              <a:rPr lang="en-GB" altLang="zh-CN" sz="1600" baseline="-25000">
                <a:solidFill>
                  <a:srgbClr val="5DB5C9"/>
                </a:solidFill>
                <a:latin typeface="Times New Roman" panose="02020603050405020304" pitchFamily="18" charset="0"/>
              </a:rPr>
              <a:t>O₂</a:t>
            </a:r>
            <a:endParaRPr lang="zh-CN" altLang="en-US" sz="1600" baseline="-25000">
              <a:solidFill>
                <a:srgbClr val="5DB5C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水·气·冰分布标题">
            <a:extLst>
              <a:ext uri="{FF2B5EF4-FFF2-40B4-BE49-F238E27FC236}">
                <a16:creationId xmlns:a16="http://schemas.microsoft.com/office/drawing/2014/main" id="{44725ED9-CACA-4173-8FDF-B40CD08B08C9}"/>
              </a:ext>
            </a:extLst>
          </p:cNvPr>
          <p:cNvSpPr txBox="1"/>
          <p:nvPr/>
        </p:nvSpPr>
        <p:spPr>
          <a:xfrm>
            <a:off x="7429500" y="5778500"/>
            <a:ext cx="3708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527FB5"/>
                </a:solidFill>
                <a:latin typeface="Microsoft YaHei" panose="020B0503020204020204" pitchFamily="34" charset="-122"/>
              </a:rPr>
              <a:t>水</a:t>
            </a:r>
            <a:r>
              <a:rPr lang="en-US" altLang="zh-CN" sz="2100" b="1">
                <a:solidFill>
                  <a:srgbClr val="527FB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2100" b="1">
                <a:solidFill>
                  <a:srgbClr val="527FB5"/>
                </a:solidFill>
                <a:latin typeface="Microsoft YaHei" panose="020B0503020204020204" pitchFamily="34" charset="-122"/>
              </a:rPr>
              <a:t>气</a:t>
            </a:r>
            <a:r>
              <a:rPr lang="en-US" altLang="zh-CN" sz="2100" b="1">
                <a:solidFill>
                  <a:srgbClr val="527FB5"/>
                </a:solidFill>
                <a:latin typeface="Microsoft YaHei" panose="020B0503020204020204" pitchFamily="34" charset="-122"/>
              </a:rPr>
              <a:t>·</a:t>
            </a:r>
            <a:r>
              <a:rPr lang="zh-CN" altLang="en-US" sz="2100" b="1">
                <a:solidFill>
                  <a:srgbClr val="527FB5"/>
                </a:solidFill>
                <a:latin typeface="Microsoft YaHei" panose="020B0503020204020204" pitchFamily="34" charset="-122"/>
              </a:rPr>
              <a:t>冰分布</a:t>
            </a:r>
          </a:p>
        </p:txBody>
      </p:sp>
      <p:sp>
        <p:nvSpPr>
          <p:cNvPr id="75" name="水·气·冰分布符号">
            <a:extLst>
              <a:ext uri="{FF2B5EF4-FFF2-40B4-BE49-F238E27FC236}">
                <a16:creationId xmlns:a16="http://schemas.microsoft.com/office/drawing/2014/main" id="{690AE9B9-F2E5-43A1-B18F-D30DD1E01A6E}"/>
              </a:ext>
            </a:extLst>
          </p:cNvPr>
          <p:cNvSpPr txBox="1"/>
          <p:nvPr/>
        </p:nvSpPr>
        <p:spPr>
          <a:xfrm>
            <a:off x="7429500" y="6172200"/>
            <a:ext cx="3708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l-GR" altLang="zh-CN" sz="1600">
                <a:solidFill>
                  <a:srgbClr val="527FB5"/>
                </a:solidFill>
                <a:latin typeface="Times New Roman" panose="02020603050405020304" pitchFamily="18" charset="0"/>
              </a:rPr>
              <a:t>ε</a:t>
            </a:r>
            <a:r>
              <a:rPr lang="en-GB" altLang="zh-CN" sz="1600" baseline="-25000">
                <a:solidFill>
                  <a:srgbClr val="527FB5"/>
                </a:solidFill>
                <a:latin typeface="Times New Roman" panose="02020603050405020304" pitchFamily="18" charset="0"/>
              </a:rPr>
              <a:t>g</a:t>
            </a:r>
            <a:r>
              <a:rPr lang="en-GB" altLang="zh-CN" sz="1600">
                <a:solidFill>
                  <a:srgbClr val="527FB5"/>
                </a:solidFill>
                <a:latin typeface="Times New Roman" panose="02020603050405020304" pitchFamily="18" charset="0"/>
              </a:rPr>
              <a:t>, m</a:t>
            </a:r>
            <a:r>
              <a:rPr lang="en-GB" altLang="zh-CN" sz="1600" baseline="-25000">
                <a:solidFill>
                  <a:srgbClr val="527FB5"/>
                </a:solidFill>
                <a:latin typeface="Times New Roman" panose="02020603050405020304" pitchFamily="18" charset="0"/>
              </a:rPr>
              <a:t>w</a:t>
            </a:r>
            <a:r>
              <a:rPr lang="en-GB" altLang="zh-CN" sz="1600">
                <a:solidFill>
                  <a:srgbClr val="527FB5"/>
                </a:solidFill>
                <a:latin typeface="Times New Roman" panose="02020603050405020304" pitchFamily="18" charset="0"/>
              </a:rPr>
              <a:t>, m</a:t>
            </a:r>
            <a:r>
              <a:rPr lang="en-GB" altLang="zh-CN" sz="1600" baseline="-25000">
                <a:solidFill>
                  <a:srgbClr val="527FB5"/>
                </a:solidFill>
                <a:latin typeface="Times New Roman" panose="02020603050405020304" pitchFamily="18" charset="0"/>
              </a:rPr>
              <a:t>i</a:t>
            </a:r>
            <a:endParaRPr lang="zh-CN" altLang="en-US" sz="1600" baseline="-25000">
              <a:solidFill>
                <a:srgbClr val="527FB5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能量与热传递标题">
            <a:extLst>
              <a:ext uri="{FF2B5EF4-FFF2-40B4-BE49-F238E27FC236}">
                <a16:creationId xmlns:a16="http://schemas.microsoft.com/office/drawing/2014/main" id="{54C2B197-D9FD-4C89-85C4-ACC6FE205530}"/>
              </a:ext>
            </a:extLst>
          </p:cNvPr>
          <p:cNvSpPr txBox="1"/>
          <p:nvPr/>
        </p:nvSpPr>
        <p:spPr>
          <a:xfrm>
            <a:off x="1625600" y="5778500"/>
            <a:ext cx="3708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D76C57"/>
                </a:solidFill>
                <a:latin typeface="Microsoft YaHei" panose="020B0503020204020204" pitchFamily="34" charset="-122"/>
              </a:rPr>
              <a:t>能量与热传递</a:t>
            </a:r>
          </a:p>
        </p:txBody>
      </p:sp>
      <p:sp>
        <p:nvSpPr>
          <p:cNvPr id="77" name="能量与热传递符号">
            <a:extLst>
              <a:ext uri="{FF2B5EF4-FFF2-40B4-BE49-F238E27FC236}">
                <a16:creationId xmlns:a16="http://schemas.microsoft.com/office/drawing/2014/main" id="{5C59AD87-BD7B-48B7-ACBA-139788E27FFE}"/>
              </a:ext>
            </a:extLst>
          </p:cNvPr>
          <p:cNvSpPr txBox="1"/>
          <p:nvPr/>
        </p:nvSpPr>
        <p:spPr>
          <a:xfrm>
            <a:off x="1625600" y="6172200"/>
            <a:ext cx="37084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1600">
                <a:solidFill>
                  <a:srgbClr val="D76C57"/>
                </a:solidFill>
                <a:latin typeface="Times New Roman" panose="02020603050405020304" pitchFamily="18" charset="0"/>
              </a:rPr>
              <a:t>T</a:t>
            </a:r>
            <a:endParaRPr lang="zh-CN" altLang="en-US" sz="1600">
              <a:solidFill>
                <a:srgbClr val="D76C57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" name="电压输出标题">
            <a:extLst>
              <a:ext uri="{FF2B5EF4-FFF2-40B4-BE49-F238E27FC236}">
                <a16:creationId xmlns:a16="http://schemas.microsoft.com/office/drawing/2014/main" id="{4F156B73-47FE-4E07-9FF7-45AFA6FA8BCC}"/>
              </a:ext>
            </a:extLst>
          </p:cNvPr>
          <p:cNvSpPr txBox="1"/>
          <p:nvPr/>
        </p:nvSpPr>
        <p:spPr>
          <a:xfrm>
            <a:off x="431800" y="3124200"/>
            <a:ext cx="28956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92AA49"/>
                </a:solidFill>
                <a:latin typeface="Microsoft YaHei" panose="020B0503020204020204" pitchFamily="34" charset="-122"/>
              </a:rPr>
              <a:t>电压输出</a:t>
            </a:r>
          </a:p>
        </p:txBody>
      </p:sp>
      <p:sp>
        <p:nvSpPr>
          <p:cNvPr id="79" name="电压输出符号">
            <a:extLst>
              <a:ext uri="{FF2B5EF4-FFF2-40B4-BE49-F238E27FC236}">
                <a16:creationId xmlns:a16="http://schemas.microsoft.com/office/drawing/2014/main" id="{32C2920E-2E51-4D43-86B6-CDC64784E694}"/>
              </a:ext>
            </a:extLst>
          </p:cNvPr>
          <p:cNvSpPr txBox="1"/>
          <p:nvPr/>
        </p:nvSpPr>
        <p:spPr>
          <a:xfrm>
            <a:off x="431800" y="3517900"/>
            <a:ext cx="2895600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GB" altLang="zh-CN" sz="1600">
                <a:solidFill>
                  <a:srgbClr val="92AA49"/>
                </a:solidFill>
                <a:latin typeface="Times New Roman" panose="02020603050405020304" pitchFamily="18" charset="0"/>
              </a:rPr>
              <a:t>V</a:t>
            </a:r>
            <a:r>
              <a:rPr lang="en-GB" altLang="zh-CN" sz="1600" baseline="-25000">
                <a:solidFill>
                  <a:srgbClr val="92AA49"/>
                </a:solidFill>
                <a:latin typeface="Times New Roman" panose="02020603050405020304" pitchFamily="18" charset="0"/>
              </a:rPr>
              <a:t>cell</a:t>
            </a:r>
            <a:endParaRPr lang="zh-CN" altLang="en-US" sz="1600" baseline="-25000">
              <a:solidFill>
                <a:srgbClr val="92AA49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5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鹩 苏</dc:creator>
  <cp:lastModifiedBy>鹩 苏</cp:lastModifiedBy>
  <cp:revision>1</cp:revision>
  <dcterms:created xsi:type="dcterms:W3CDTF">2026-09-26T09:25:58Z</dcterms:created>
  <dcterms:modified xsi:type="dcterms:W3CDTF">2026-09-26T09:26:02Z</dcterms:modified>
</cp:coreProperties>
</file>